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8FBB2-C9E2-E148-A216-6F3F982923E1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328E4-B02F-0E46-8DFB-0ACDD520B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7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28E4-B02F-0E46-8DFB-0ACDD520B5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0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0" y="745349"/>
            <a:ext cx="34747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A365D"/>
                </a:solidFill>
              </a:rPr>
              <a:t>StealthRL: Reinforcement Learning Paraphrase Attacks for Multi-Detector Evasion of AI-Text Detectors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57400"/>
            <a:ext cx="3108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333333"/>
                </a:solidFill>
              </a:rPr>
              <a:t>Suraj Ranganath</a:t>
            </a:r>
            <a:r>
              <a:rPr sz="6000" b="0">
                <a:solidFill>
                  <a:srgbClr val="333333"/>
                </a:solidFill>
              </a:rPr>
              <a:t>, </a:t>
            </a:r>
            <a:r>
              <a:rPr sz="6000" b="1">
                <a:solidFill>
                  <a:srgbClr val="333333"/>
                </a:solidFill>
              </a:rPr>
              <a:t>Atharv Ramesh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868115"/>
            <a:ext cx="3108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555555"/>
                </a:solidFill>
              </a:rPr>
              <a:t>University of California, San Diego | suranganath@ucsd.edu | a3nair@ucsd.edu</a:t>
            </a:r>
          </a:p>
        </p:txBody>
      </p:sp>
      <p:sp>
        <p:nvSpPr>
          <p:cNvPr id="2000" name="Venue"/>
          <p:cNvSpPr txBox="1"/>
          <p:nvPr/>
        </p:nvSpPr>
        <p:spPr>
          <a:xfrm>
            <a:off x="24048720" y="2103120"/>
            <a:ext cx="1563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006B52"/>
                </a:solidFill>
              </a:rPr>
              <a:t>PlurVA-LLM Workshop @ AACL-IJCNLP 2026</a:t>
            </a:r>
          </a:p>
          <a:p>
            <a:pPr algn="r"/>
            <a:r>
              <a:rPr sz="3200" b="0" i="0">
                <a:solidFill>
                  <a:srgbClr val="555555"/>
                </a:solidFill>
              </a:rPr>
              <a:t>First Workshop on Pluralistic Value Alignment of LLMs · Hengqin, China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0" y="274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365D"/>
                </a:solidFill>
              </a:rPr>
              <a:t>Code Available</a:t>
            </a:r>
          </a:p>
        </p:txBody>
      </p:sp>
      <p:pic>
        <p:nvPicPr>
          <p:cNvPr id="7" name="Picture 6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0" y="868680"/>
            <a:ext cx="2651760" cy="265176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365760" y="3657600"/>
            <a:ext cx="43159680" cy="0"/>
          </a:xfrm>
          <a:prstGeom prst="line">
            <a:avLst/>
          </a:prstGeom>
          <a:ln w="381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649688" y="4114800"/>
            <a:ext cx="0" cy="28529280"/>
          </a:xfrm>
          <a:prstGeom prst="line">
            <a:avLst/>
          </a:prstGeom>
          <a:ln w="254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4206240"/>
            <a:ext cx="22101048" cy="2194560"/>
          </a:xfrm>
          <a:prstGeom prst="roundRect">
            <a:avLst>
              <a:gd name="adj" fmla="val 3000"/>
            </a:avLst>
          </a:prstGeom>
          <a:solidFill>
            <a:srgbClr val="E8F5F0"/>
          </a:solidFill>
          <a:ln w="381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4240230"/>
            <a:ext cx="21523683" cy="21082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8400" b="1">
                <a:solidFill>
                  <a:srgbClr val="004D3B"/>
                </a:solidFill>
              </a:rPr>
              <a:t>0.024</a:t>
            </a:r>
            <a:r>
              <a:rPr sz="5000" b="0">
                <a:solidFill>
                  <a:srgbClr val="333333"/>
                </a:solidFill>
              </a:rPr>
              <a:t xml:space="preserve">  mean TPR@1%FPR  </a:t>
            </a:r>
            <a:r>
              <a:rPr sz="5000" b="0">
                <a:solidFill>
                  <a:srgbClr val="AAAAAA"/>
                </a:solidFill>
              </a:rPr>
              <a:t>|</a:t>
            </a:r>
            <a:r>
              <a:rPr sz="7200" b="1">
                <a:solidFill>
                  <a:srgbClr val="004D3B"/>
                </a:solidFill>
              </a:rPr>
              <a:t xml:space="preserve">  97.6%</a:t>
            </a:r>
            <a:r>
              <a:rPr sz="5000" b="0">
                <a:solidFill>
                  <a:srgbClr val="333333"/>
                </a:solidFill>
              </a:rPr>
              <a:t xml:space="preserve"> mean ASR  </a:t>
            </a:r>
            <a:r>
              <a:rPr sz="5000" b="0">
                <a:solidFill>
                  <a:srgbClr val="AAAAAA"/>
                </a:solidFill>
              </a:rPr>
              <a:t>|</a:t>
            </a:r>
            <a:r>
              <a:rPr sz="5000" b="0">
                <a:solidFill>
                  <a:srgbClr val="333333"/>
                </a:solidFill>
              </a:rPr>
              <a:t xml:space="preserve">  mean AUROC 0.79 → 0.43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200" b="0">
                <a:solidFill>
                  <a:srgbClr val="555555"/>
                </a:solidFill>
              </a:rPr>
              <a:t xml:space="preserve">4 detectors: RoBERTa, Fast-DetectGPT, Binoculars, MAGE  •  </a:t>
            </a:r>
            <a:r>
              <a:rPr sz="4200" b="1">
                <a:solidFill>
                  <a:srgbClr val="006B52"/>
                </a:solidFill>
              </a:rPr>
              <a:t>Transfers to 2 held-out detectors</a:t>
            </a:r>
            <a:endParaRPr sz="4200" b="1">
              <a:solidFill>
                <a:srgbClr val="006B52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4286" y="6819489"/>
            <a:ext cx="50243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A365D"/>
                </a:solidFill>
              </a:rPr>
              <a:t>Method</a:t>
            </a:r>
          </a:p>
        </p:txBody>
      </p:sp>
      <p:pic>
        <p:nvPicPr>
          <p:cNvPr id="13" name="Picture 12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7086600"/>
            <a:ext cx="17007840" cy="8393359"/>
          </a:xfrm>
          <a:prstGeom prst="rect">
            <a:avLst/>
          </a:prstGeom>
        </p:spPr>
      </p:pic>
      <p:sp xmlns:a14="http://schemas.microsoft.com/office/drawing/2010/main">
        <p:nvSpPr>
          <p:cNvPr id="15" name="TextBox 14"/>
          <p:cNvSpPr txBox="1"/>
          <p:nvPr/>
        </p:nvSpPr>
        <p:spPr>
          <a:xfrm>
            <a:off x="1280160" y="15956280"/>
            <a:ext cx="20939760" cy="48520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365D"/>
                </a:solidFill>
              </a:rPr>
              <a:t xml:space="preserve">Reward:  </a:t>
            </a:r>
            <a:r>
              <a:rPr sz="4800" b="0">
                <a:solidFill>
                  <a:srgbClr val="333333"/>
                </a:solidFill>
              </a:rPr>
              <a:t>R = α(1 − p</a:t>
            </a:r>
            <a:r>
              <a:rPr sz="4800" b="0" baseline="-25000">
                <a:solidFill>
                  <a:srgbClr val="333333"/>
                </a:solidFill>
              </a:rPr>
              <a:t>ens</a:t>
            </a:r>
            <a:r>
              <a:rPr sz="4800" b="0">
                <a:solidFill>
                  <a:srgbClr val="333333"/>
                </a:solidFill>
              </a:rPr>
              <a:t>) + β · sim</a:t>
            </a:r>
            <a:r>
              <a:rPr sz="4800" b="0" baseline="-25000">
                <a:solidFill>
                  <a:srgbClr val="333333"/>
                </a:solidFill>
              </a:rPr>
              <a:t>E5</a:t>
            </a:r>
            <a:r>
              <a:rPr sz="4800" b="0">
                <a:solidFill>
                  <a:srgbClr val="333333"/>
                </a:solidFill>
              </a:rPr>
              <a:t>,  α = 1.0, β = 0.1</a:t>
            </a:r>
          </a:p>
          <a:p>
            <a:pPr>
              <a:spcBef>
                <a:spcPts val="1000"/>
              </a:spcBef>
            </a:pPr>
            <a:r>
              <a:rPr sz="4800" b="1">
                <a:solidFill>
                  <a:srgbClr val="1A365D"/>
                </a:solidFill>
              </a:rPr>
              <a:t xml:space="preserve">Detector Ensemble:  </a:t>
            </a:r>
            <a:r>
              <a:rPr sz="4800" b="0">
                <a:solidFill>
                  <a:srgbClr val="333333"/>
                </a:solidFill>
              </a:rPr>
              <a:t>p</a:t>
            </a:r>
            <a:r>
              <a:rPr sz="4800" b="0" baseline="-25000">
                <a:solidFill>
                  <a:srgbClr val="333333"/>
                </a:solidFill>
              </a:rPr>
              <a:t>ens</a:t>
            </a:r>
            <a:r>
              <a:rPr sz="4800" b="0">
                <a:solidFill>
                  <a:srgbClr val="333333"/>
                </a:solidFill>
              </a:rPr>
              <a:t xml:space="preserve"> = 0.6 · p</a:t>
            </a:r>
            <a:r>
              <a:rPr sz="4800" b="0" baseline="-25000">
                <a:solidFill>
                  <a:srgbClr val="333333"/>
                </a:solidFill>
              </a:rPr>
              <a:t>RoBERTa</a:t>
            </a:r>
            <a:r>
              <a:rPr sz="4800" b="0">
                <a:solidFill>
                  <a:srgbClr val="333333"/>
                </a:solidFill>
              </a:rPr>
              <a:t xml:space="preserve"> + 0.4 · p</a:t>
            </a:r>
            <a:r>
              <a:rPr sz="4800" b="0" baseline="-25000">
                <a:solidFill>
                  <a:srgbClr val="333333"/>
                </a:solidFill>
              </a:rPr>
              <a:t>Fast-DetectGPT</a:t>
            </a:r>
            <a:endParaRPr lang="en-US" sz="4400" b="1">
              <a:solidFill>
                <a:srgbClr val="1A365D"/>
              </a:solidFill>
            </a:endParaRPr>
          </a:p>
          <a:p>
            <a:pPr>
              <a:spcBef>
                <a:spcPts val="1000"/>
              </a:spcBef>
            </a:pPr>
            <a:r>
              <a:rPr sz="4400" b="1">
                <a:solidFill>
                  <a:srgbClr val="1A365D"/>
                </a:solidFill>
              </a:rPr>
              <a:t xml:space="preserve">Base Model:  </a:t>
            </a:r>
            <a:r>
              <a:rPr sz="4800" b="1">
                <a:solidFill>
                  <a:srgbClr val="1A365D"/>
                </a:solidFill>
              </a:rPr>
              <a:t>Qwen3-4B-Instruct</a:t>
            </a:r>
            <a:r>
              <a:rPr sz="4400" b="0">
                <a:solidFill>
                  <a:srgbClr val="333333"/>
                </a:solidFill>
              </a:rPr>
              <a:t xml:space="preserve"> + LoRA (rank 32)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>
                <a:solidFill>
                  <a:srgbClr val="1A365D"/>
                </a:solidFill>
              </a:rPr>
              <a:t xml:space="preserve">•  RL Algorithm:  </a:t>
            </a:r>
            <a:r>
              <a:rPr sz="4400" b="0">
                <a:solidFill>
                  <a:srgbClr val="333333"/>
                </a:solidFill>
              </a:rPr>
              <a:t>GRPO, 3 epochs, 10K AI-generated MAGE samples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>
                <a:solidFill>
                  <a:srgbClr val="1A365D"/>
                </a:solidFill>
              </a:rPr>
              <a:t xml:space="preserve">•  Threat Model:  </a:t>
            </a:r>
            <a:r>
              <a:rPr sz="4400" b="0">
                <a:solidFill>
                  <a:srgbClr val="333333"/>
                </a:solidFill>
              </a:rPr>
              <a:t>Black-box (score-only, no gradients)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>
                <a:solidFill>
                  <a:srgbClr val="1A365D"/>
                </a:solidFill>
              </a:rPr>
              <a:t xml:space="preserve">•  Transfer Test:  </a:t>
            </a:r>
            <a:r>
              <a:rPr sz="4400" b="0">
                <a:solidFill>
                  <a:srgbClr val="333333"/>
                </a:solidFill>
              </a:rPr>
              <a:t>Binoculars and MAGE held out during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446718"/>
            <a:ext cx="1828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i="0">
                <a:solidFill>
                  <a:srgbClr val="1A365D"/>
                </a:solidFill>
              </a:rPr>
              <a:t>Why Evasion Works: Score Distributions</a:t>
            </a:r>
          </a:p>
        </p:txBody>
      </p:sp>
      <p:pic>
        <p:nvPicPr>
          <p:cNvPr id="17" name="Picture 16" descr="poster_score_distribu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22722840"/>
            <a:ext cx="13532761" cy="6720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0923" y="29580840"/>
            <a:ext cx="216491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333333"/>
                </a:solidFill>
              </a:rPr>
              <a:t>StealthRL (M2) pushes most AI-sample scores below the calibrated 1% FPR threshold, so TPR collapses even where a detector such as RoBERTa keeps some global rank information. Binoculars (held out) AUROC drops from 0.705 to 0.055.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15447" y="3749232"/>
            <a:ext cx="20327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A365D"/>
                </a:solidFill>
              </a:rPr>
              <a:t>Experimental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5977" y="4812401"/>
            <a:ext cx="20327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333333"/>
                </a:solidFill>
              </a:rPr>
              <a:t>TPR@1%FPR: 6 attack methods × 4 detectors, MAGE test pool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318096"/>
              </p:ext>
            </p:extLst>
          </p:nvPr>
        </p:nvGraphicFramePr>
        <p:xfrm>
          <a:off x="23183137" y="5702210"/>
          <a:ext cx="20052792" cy="5439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4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4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  <a:latin typeface="Helvetica Neue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Helvetica Neue"/>
                        </a:rPr>
                        <a:t>RoBERTa
TPR@1%</a:t>
                      </a:r>
                    </a:p>
                  </a:txBody>
                  <a:tcPr marL="54864" marR="54864" marT="27432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Helvetica Neue"/>
                        </a:rPr>
                        <a:t>Fast-DetGPT
TPR@1%</a:t>
                      </a:r>
                    </a:p>
                  </a:txBody>
                  <a:tcPr marL="54864" marR="54864" marT="27432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Helvetica Neue"/>
                        </a:rPr>
                        <a:t>Binoculars
TPR@1%
(held-out)</a:t>
                      </a:r>
                    </a:p>
                  </a:txBody>
                  <a:tcPr marL="54864" marR="54864" marT="27432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Helvetica Neue"/>
                        </a:rPr>
                        <a:t>MAGE
TPR@1%
(held-out)</a:t>
                      </a:r>
                    </a:p>
                  </a:txBody>
                  <a:tcPr marL="54864" marR="54864" marT="27432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Helvetica Neue"/>
                        </a:rPr>
                        <a:t>Mean
TPR↓</a:t>
                      </a:r>
                    </a:p>
                  </a:txBody>
                  <a:tcPr marL="54864" marR="54864" marT="27432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Helvetica Neue"/>
                        </a:rPr>
                        <a:t>Mean
ASR↑</a:t>
                      </a:r>
                    </a:p>
                  </a:txBody>
                  <a:tcPr marL="54864" marR="54864" marT="27432" marB="27432" anchor="ctr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M0 No Attack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0.203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0.388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0.367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0.843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0.450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0.550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M1 Simple Para.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0.111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0.148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0.158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0.720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0.284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0.716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3000" b="1">
                          <a:solidFill>
                            <a:srgbClr val="004D3B"/>
                          </a:solidFill>
                          <a:latin typeface="Helvetica Neue"/>
                        </a:rPr>
                        <a:t>M2 StealthRL</a:t>
                      </a:r>
                    </a:p>
                  </a:txBody>
                  <a:tcPr marL="54864" marR="54864" marT="27432" marB="27432"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004D3B"/>
                          </a:solidFill>
                          <a:latin typeface="Helvetica Neue"/>
                        </a:rPr>
                        <a:t>0.002</a:t>
                      </a:r>
                    </a:p>
                  </a:txBody>
                  <a:tcPr marL="54864" marR="54864" marT="27432" marB="27432"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004D3B"/>
                          </a:solidFill>
                          <a:latin typeface="Helvetica Neue"/>
                        </a:rPr>
                        <a:t>0.002</a:t>
                      </a:r>
                    </a:p>
                  </a:txBody>
                  <a:tcPr marL="54864" marR="54864" marT="27432" marB="27432"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004D3B"/>
                          </a:solidFill>
                          <a:latin typeface="Helvetica Neue"/>
                        </a:rPr>
                        <a:t>0.002</a:t>
                      </a:r>
                    </a:p>
                  </a:txBody>
                  <a:tcPr marL="54864" marR="54864" marT="27432" marB="27432"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004D3B"/>
                          </a:solidFill>
                          <a:latin typeface="Helvetica Neue"/>
                        </a:rPr>
                        <a:t>0.089</a:t>
                      </a:r>
                    </a:p>
                  </a:txBody>
                  <a:tcPr marL="54864" marR="54864" marT="27432" marB="27432"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004D3B"/>
                          </a:solidFill>
                          <a:latin typeface="Helvetica Neue"/>
                        </a:rPr>
                        <a:t>0.024</a:t>
                      </a:r>
                    </a:p>
                  </a:txBody>
                  <a:tcPr marL="54864" marR="54864" marT="27432" marB="27432"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004D3B"/>
                          </a:solidFill>
                          <a:latin typeface="Helvetica Neue"/>
                        </a:rPr>
                        <a:t>0.976</a:t>
                      </a:r>
                    </a:p>
                  </a:txBody>
                  <a:tcPr marL="54864" marR="54864" marT="27432" marB="27432" anchor="ctr"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M3 Adv. Para.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0.058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0.092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0.051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0.666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0.217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0.783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M4 AuthorMist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0.651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0.203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0.797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M5 Homoglyph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0.001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0.000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0.000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0.136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0.034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333333"/>
                          </a:solidFill>
                          <a:latin typeface="Helvetica Neue"/>
                        </a:rPr>
                        <a:t>0.966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3547273" y="11558511"/>
            <a:ext cx="20327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333333"/>
                </a:solidFill>
              </a:rPr>
              <a:t>TPR@1%FPR heatmap, mean AUROC, and mean attack success</a:t>
            </a:r>
          </a:p>
        </p:txBody>
      </p:sp>
      <p:pic>
        <p:nvPicPr>
          <p:cNvPr id="24" name="Picture 23" descr="poster_heatmap_tp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34320" y="12573000"/>
            <a:ext cx="6537960" cy="4903470"/>
          </a:xfrm>
          <a:prstGeom prst="rect">
            <a:avLst/>
          </a:prstGeom>
        </p:spPr>
      </p:pic>
      <p:pic>
        <p:nvPicPr>
          <p:cNvPr id="25" name="Picture 24" descr="poster_mean_auro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00880" y="12573000"/>
            <a:ext cx="6537960" cy="49034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108329" y="18609998"/>
            <a:ext cx="73992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chemeClr val="accent3">
                    <a:lumMod val="50000"/>
                  </a:schemeClr>
                </a:solidFill>
              </a:rPr>
              <a:t>Evasion–quality tradeoff</a:t>
            </a:r>
          </a:p>
        </p:txBody>
      </p:sp>
      <p:pic>
        <p:nvPicPr>
          <p:cNvPr id="27" name="Picture 26" descr="fig_trade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0" y="19613880"/>
            <a:ext cx="7334775" cy="54864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3956999" y="19985481"/>
            <a:ext cx="8886304" cy="4480560"/>
          </a:xfrm>
          <a:prstGeom prst="roundRect">
            <a:avLst>
              <a:gd name="adj" fmla="val 3000"/>
            </a:avLst>
          </a:prstGeom>
          <a:solidFill>
            <a:srgbClr val="E8F5F0"/>
          </a:solidFill>
          <a:ln w="381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04003" y="20569167"/>
            <a:ext cx="3502896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4800" b="1">
                <a:solidFill>
                  <a:srgbClr val="004D3B"/>
                </a:solidFill>
              </a:rPr>
              <a:t>0.901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555555"/>
                </a:solidFill>
              </a:rPr>
              <a:t>E5 Similarity</a:t>
            </a:r>
            <a:endParaRPr lang="en-US" sz="3200" b="0">
              <a:solidFill>
                <a:srgbClr val="555555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sz="3200">
              <a:solidFill>
                <a:srgbClr val="555555"/>
              </a:solidFill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4800" b="1">
                <a:solidFill>
                  <a:srgbClr val="004D3B"/>
                </a:solidFill>
              </a:rPr>
              <a:t>2.51/5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555555"/>
                </a:solidFill>
              </a:rPr>
              <a:t>Likert Quality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endParaRPr sz="3200" b="0">
              <a:solidFill>
                <a:srgbClr val="555555"/>
              </a:solidFill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endParaRPr lang="en-US" sz="3200" b="0">
              <a:solidFill>
                <a:srgbClr val="555555"/>
              </a:solidFill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endParaRPr sz="3200" b="0">
              <a:solidFill>
                <a:srgbClr val="555555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013052" y="25197612"/>
            <a:ext cx="20327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A365D"/>
                </a:solidFill>
              </a:rPr>
              <a:t>Key Findings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07914" y="26372138"/>
            <a:ext cx="20799630" cy="6186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400">
                <a:solidFill>
                  <a:srgbClr val="009E73"/>
                </a:solidFill>
              </a:rPr>
              <a:t xml:space="preserve">• </a:t>
            </a:r>
            <a:r>
              <a:rPr lang="en-US" sz="4400" b="1">
                <a:solidFill>
                  <a:schemeClr val="tx2"/>
                </a:solidFill>
              </a:rPr>
              <a:t>Robustness breakdown at strict operating point:</a:t>
            </a:r>
            <a:r>
              <a:rPr lang="en-US" sz="4400">
                <a:solidFill>
                  <a:srgbClr val="009E73"/>
                </a:solidFill>
              </a:rPr>
              <a:t xml:space="preserve"> </a:t>
            </a:r>
            <a:r>
              <a:rPr lang="en-US" sz="4400"/>
              <a:t>StealthRL cuts mean TPR@1%FPR to 0.024 across four detectors (97.6% ASR), using one generation per input.</a:t>
            </a:r>
            <a:endParaRPr lang="en-US">
              <a:ea typeface="+mn-lt"/>
              <a:cs typeface="+mn-lt"/>
            </a:endParaRPr>
          </a:p>
          <a:p>
            <a:r>
              <a:rPr lang="en-US" sz="4400">
                <a:solidFill>
                  <a:srgbClr val="009E73"/>
                </a:solidFill>
              </a:rPr>
              <a:t xml:space="preserve">• </a:t>
            </a:r>
            <a:r>
              <a:rPr lang="en-US" sz="4400" b="1">
                <a:solidFill>
                  <a:schemeClr val="tx2"/>
                </a:solidFill>
              </a:rPr>
              <a:t>Transfer to held-out detectors:</a:t>
            </a:r>
            <a:r>
              <a:rPr lang="en-US" sz="4400">
                <a:solidFill>
                  <a:srgbClr val="009E73"/>
                </a:solidFill>
              </a:rPr>
              <a:t xml:space="preserve"> </a:t>
            </a:r>
            <a:r>
              <a:rPr lang="en-US" sz="4400"/>
              <a:t>On Binoculars and MAGE (never used in training), TPR@1%FPR falls from 0.367 to 0.002 and from 0.843 to 0.089.</a:t>
            </a:r>
            <a:endParaRPr lang="en-US" sz="4400">
              <a:ea typeface="Calibri"/>
              <a:cs typeface="Calibri"/>
            </a:endParaRPr>
          </a:p>
          <a:p>
            <a:r>
              <a:rPr lang="en-US" sz="4400">
                <a:solidFill>
                  <a:srgbClr val="009E73"/>
                </a:solidFill>
              </a:rPr>
              <a:t xml:space="preserve">• </a:t>
            </a:r>
            <a:r>
              <a:rPr lang="en-US" sz="4400" b="1">
                <a:solidFill>
                  <a:schemeClr val="tx2"/>
                </a:solidFill>
              </a:rPr>
              <a:t>Stable across runs and operating points:</a:t>
            </a:r>
            <a:r>
              <a:rPr lang="en-US" sz="4400">
                <a:solidFill>
                  <a:srgbClr val="009E73"/>
                </a:solidFill>
              </a:rPr>
              <a:t xml:space="preserve"> </a:t>
            </a:r>
            <a:r>
              <a:rPr lang="en-US" sz="4400"/>
              <a:t>The original run and two re-seeded repeats give mean TPR@1%FPR 0.024 ± 0.001; at 5% FPR, mean TPR is 0.076.</a:t>
            </a:r>
            <a:endParaRPr lang="en-US" sz="4400">
              <a:ea typeface="Calibri"/>
              <a:cs typeface="Calibri"/>
            </a:endParaRPr>
          </a:p>
          <a:p>
            <a:r>
              <a:rPr lang="en-US" sz="4400">
                <a:solidFill>
                  <a:srgbClr val="009E73"/>
                </a:solidFill>
              </a:rPr>
              <a:t xml:space="preserve">• </a:t>
            </a:r>
            <a:r>
              <a:rPr lang="en-US" sz="4400" b="1">
                <a:solidFill>
                  <a:schemeClr val="tx2"/>
                </a:solidFill>
              </a:rPr>
              <a:t>Evasion–fidelity tradeoff:</a:t>
            </a:r>
            <a:r>
              <a:rPr lang="en-US" sz="4400">
                <a:solidFill>
                  <a:srgbClr val="009E73"/>
                </a:solidFill>
              </a:rPr>
              <a:t xml:space="preserve"> </a:t>
            </a:r>
            <a:r>
              <a:rPr lang="en-US" sz="4400"/>
              <a:t>More readable than homoglyphs (Likert 2.51 vs 1.97), but less faithful than M1/M3 (NLI 0.316 vs 0.967/0.965).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10F85E-74D3-03FD-693B-804C80196180}"/>
              </a:ext>
            </a:extLst>
          </p:cNvPr>
          <p:cNvSpPr txBox="1"/>
          <p:nvPr/>
        </p:nvSpPr>
        <p:spPr>
          <a:xfrm>
            <a:off x="38400151" y="20604006"/>
            <a:ext cx="3683252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n-US" sz="4800" b="1">
                <a:solidFill>
                  <a:srgbClr val="004D3B"/>
                </a:solidFill>
              </a:rPr>
              <a:t>0.868</a:t>
            </a:r>
          </a:p>
          <a:p>
            <a:r>
              <a:rPr lang="en-US" sz="3200">
                <a:solidFill>
                  <a:srgbClr val="555555"/>
                </a:solidFill>
              </a:rPr>
              <a:t>BERTScore</a:t>
            </a:r>
          </a:p>
          <a:p>
            <a:endParaRPr lang="en-US" sz="3200" b="1">
              <a:solidFill>
                <a:srgbClr val="004D3B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4800" b="1">
                <a:solidFill>
                  <a:srgbClr val="004D3B"/>
                </a:solidFill>
              </a:rPr>
              <a:t>0.316</a:t>
            </a:r>
          </a:p>
          <a:p>
            <a:r>
              <a:rPr lang="en-US" sz="3200">
                <a:solidFill>
                  <a:srgbClr val="555555"/>
                </a:solidFill>
              </a:rPr>
              <a:t>NLI Consistency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endParaRPr sz="2800" b="0">
              <a:solidFill>
                <a:srgbClr val="555555"/>
              </a:solidFill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endParaRPr lang="en-US" sz="2800" b="0">
              <a:solidFill>
                <a:srgbClr val="555555"/>
              </a:solidFill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endParaRPr sz="2800" b="0">
              <a:solidFill>
                <a:srgbClr val="555555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4A932B-BB9C-9E03-6C16-6A25A6C7134F}"/>
              </a:ext>
            </a:extLst>
          </p:cNvPr>
          <p:cNvSpPr txBox="1"/>
          <p:nvPr/>
        </p:nvSpPr>
        <p:spPr>
          <a:xfrm>
            <a:off x="35578688" y="18760702"/>
            <a:ext cx="66885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800" b="1" i="0" err="1">
                <a:solidFill>
                  <a:schemeClr val="accent3">
                    <a:lumMod val="50000"/>
                  </a:schemeClr>
                </a:solidFill>
              </a:rPr>
              <a:t>StealthRL</a:t>
            </a:r>
            <a:r>
              <a:rPr lang="en-US" sz="4800" b="1" i="0">
                <a:solidFill>
                  <a:schemeClr val="accent3">
                    <a:lumMod val="50000"/>
                  </a:schemeClr>
                </a:solidFill>
              </a:rPr>
              <a:t> Quality</a:t>
            </a:r>
            <a:endParaRPr sz="4800" b="1" i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1026" name="Picture 2" descr="University of California, San Diego - Wikipedia">
            <a:extLst>
              <a:ext uri="{FF2B5EF4-FFF2-40B4-BE49-F238E27FC236}">
                <a16:creationId xmlns:a16="http://schemas.microsoft.com/office/drawing/2014/main" id="{3F85431D-1DCB-FD37-5366-76DBB877D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91" y="274320"/>
            <a:ext cx="3220352" cy="324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1" name="Mean ASR" descr="poster_mean_as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67440" y="12573000"/>
            <a:ext cx="6537960" cy="4903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2026-10-23T04:28:24Z</dcterms:modified>
  <cp:category/>
</cp:coreProperties>
</file>